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Doğruluk %</c:v>
                </c:pt>
              </c:strCache>
            </c:strRef>
          </c:tx>
          <c:spPr>
            <a:solidFill>
              <a:srgbClr val="0F1B3C"/>
            </a:solidFill>
          </c:spPr>
          <c:cat>
            <c:strRef>
              <c:f>Sheet1!$A$2:$A$7</c:f>
              <c:strCache>
                <c:ptCount val="6"/>
                <c:pt idx="0">
                  <c:v>Horror</c:v>
                </c:pt>
                <c:pt idx="1">
                  <c:v>Romance</c:v>
                </c:pt>
                <c:pt idx="2">
                  <c:v>Aksiyon</c:v>
                </c:pt>
                <c:pt idx="3">
                  <c:v>Drama</c:v>
                </c:pt>
                <c:pt idx="4">
                  <c:v>Tarih</c:v>
                </c:pt>
                <c:pt idx="5">
                  <c:v>Savaş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97</c:v>
                </c:pt>
                <c:pt idx="1">
                  <c:v>90</c:v>
                </c:pt>
                <c:pt idx="2">
                  <c:v>87</c:v>
                </c:pt>
                <c:pt idx="3">
                  <c:v>85</c:v>
                </c:pt>
                <c:pt idx="4">
                  <c:v>60</c:v>
                </c:pt>
                <c:pt idx="5">
                  <c:v>55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Önem %</c:v>
                </c:pt>
              </c:strCache>
            </c:strRef>
          </c:tx>
          <c:spPr>
            <a:solidFill>
              <a:srgbClr val="D4AF37"/>
            </a:solidFill>
          </c:spPr>
          <c:cat>
            <c:strRef>
              <c:f>Sheet1!$A$2:$A$7</c:f>
              <c:strCache>
                <c:ptCount val="6"/>
                <c:pt idx="0">
                  <c:v>cast_avg_rating</c:v>
                </c:pt>
                <c:pt idx="1">
                  <c:v>director_avg_rating</c:v>
                </c:pt>
                <c:pt idx="2">
                  <c:v>Popülarite</c:v>
                </c:pt>
                <c:pt idx="3">
                  <c:v>Süre</c:v>
                </c:pt>
                <c:pt idx="4">
                  <c:v>Yıl</c:v>
                </c:pt>
                <c:pt idx="5">
                  <c:v>Tüm 19 tür (TOPLAM)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</c:v>
                </c:pt>
                <c:pt idx="1">
                  <c:v>25</c:v>
                </c:pt>
                <c:pt idx="2">
                  <c:v>14</c:v>
                </c:pt>
                <c:pt idx="3">
                  <c:v>12</c:v>
                </c:pt>
                <c:pt idx="4">
                  <c:v>10</c:v>
                </c:pt>
                <c:pt idx="5">
                  <c:v>8.3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457200"/>
            <a:ext cx="420624" cy="3200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420624" cy="320040"/>
          </a:xfrm>
          <a:prstGeom prst="rect">
            <a:avLst/>
          </a:prstGeom>
          <a:solidFill>
            <a:srgbClr val="F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2011680"/>
            <a:ext cx="420624" cy="3200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697479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2788920"/>
            <a:ext cx="420624" cy="320040"/>
          </a:xfrm>
          <a:prstGeom prst="rect">
            <a:avLst/>
          </a:prstGeom>
          <a:solidFill>
            <a:srgbClr val="F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474720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3566160"/>
            <a:ext cx="420624" cy="3200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4251960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4343400"/>
            <a:ext cx="420624" cy="320040"/>
          </a:xfrm>
          <a:prstGeom prst="rect">
            <a:avLst/>
          </a:prstGeom>
          <a:solidFill>
            <a:srgbClr val="F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5029200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5120640"/>
            <a:ext cx="420624" cy="3200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5806440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5897880"/>
            <a:ext cx="420624" cy="320040"/>
          </a:xfrm>
          <a:prstGeom prst="rect">
            <a:avLst/>
          </a:prstGeom>
          <a:solidFill>
            <a:srgbClr val="F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365992" y="365760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384280" y="457200"/>
            <a:ext cx="420624" cy="3200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365992" y="1143000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384280" y="1234440"/>
            <a:ext cx="420624" cy="320040"/>
          </a:xfrm>
          <a:prstGeom prst="rect">
            <a:avLst/>
          </a:prstGeom>
          <a:solidFill>
            <a:srgbClr val="F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365992" y="1920240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384280" y="2011680"/>
            <a:ext cx="420624" cy="3200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365992" y="2697479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384280" y="2788920"/>
            <a:ext cx="420624" cy="320040"/>
          </a:xfrm>
          <a:prstGeom prst="rect">
            <a:avLst/>
          </a:prstGeom>
          <a:solidFill>
            <a:srgbClr val="F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365992" y="3474720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384280" y="3566160"/>
            <a:ext cx="420624" cy="3200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365992" y="4251960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384280" y="4343400"/>
            <a:ext cx="420624" cy="320040"/>
          </a:xfrm>
          <a:prstGeom prst="rect">
            <a:avLst/>
          </a:prstGeom>
          <a:solidFill>
            <a:srgbClr val="F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365992" y="5029200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384280" y="5120640"/>
            <a:ext cx="420624" cy="3200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65992" y="5806440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384280" y="5897880"/>
            <a:ext cx="420624" cy="320040"/>
          </a:xfrm>
          <a:prstGeom prst="rect">
            <a:avLst/>
          </a:prstGeom>
          <a:solidFill>
            <a:srgbClr val="F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0" y="1463040"/>
            <a:ext cx="3931920" cy="3657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0" y="109728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Calibri"/>
              </a:rPr>
              <a:t>MAKİNE ÖĞRENMESİ PROJESİ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TMDB FİLM BAŞARI TAHMİNİ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27889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1">
                <a:solidFill>
                  <a:srgbClr val="E8C860"/>
                </a:solidFill>
                <a:latin typeface="Calibri"/>
              </a:rPr>
              <a:t>Kadro Geçmişiyle Film Kalitesi Sınıflandırması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86000" y="3840480"/>
            <a:ext cx="2560320" cy="1097280"/>
          </a:xfrm>
          <a:prstGeom prst="roundRect">
            <a:avLst>
              <a:gd name="adj" fmla="val 8000"/>
            </a:avLst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86000" y="3977639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D4AF37"/>
                </a:solidFill>
                <a:latin typeface="Calibri"/>
              </a:rPr>
              <a:t>27.027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45262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8F5EC"/>
                </a:solidFill>
                <a:latin typeface="Calibri"/>
              </a:rPr>
              <a:t>Film Verisi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03520" y="3840480"/>
            <a:ext cx="2560320" cy="1097280"/>
          </a:xfrm>
          <a:prstGeom prst="roundRect">
            <a:avLst>
              <a:gd name="adj" fmla="val 8000"/>
            </a:avLst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03520" y="3977639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D4AF37"/>
                </a:solidFill>
                <a:latin typeface="Calibri"/>
              </a:rPr>
              <a:t>83.3%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0" y="45262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8F5EC"/>
                </a:solidFill>
                <a:latin typeface="Calibri"/>
              </a:rPr>
              <a:t>Doğruluk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21040" y="3840480"/>
            <a:ext cx="2560320" cy="1097280"/>
          </a:xfrm>
          <a:prstGeom prst="roundRect">
            <a:avLst>
              <a:gd name="adj" fmla="val 8000"/>
            </a:avLst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3977639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D4AF37"/>
                </a:solidFill>
                <a:latin typeface="Calibr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45262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8F5EC"/>
                </a:solidFill>
                <a:latin typeface="Calibri"/>
              </a:rPr>
              <a:t>Yeni Özellik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Mehmet Emirhan Oğuz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635508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E8C860"/>
                </a:solidFill>
                <a:latin typeface="Calibri"/>
              </a:rPr>
              <a:t>230601048  •  BIL4036 Yapay Zekanın Temelleri  •  İzmir Bakırçay Üniversitesi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Problem &amp; Amaç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E8C860"/>
                </a:solidFill>
                <a:latin typeface="Calibri"/>
              </a:rPr>
              <a:t>Bir filmin kalitesi önceden tahmin edilebilir mi?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486400" cy="5029200"/>
          </a:xfrm>
          <a:prstGeom prst="roundRect">
            <a:avLst>
              <a:gd name="adj" fmla="val 8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914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 i="0">
                <a:solidFill>
                  <a:srgbClr val="D4AF37"/>
                </a:solidFill>
                <a:latin typeface="Georgia"/>
              </a:rPr>
              <a:t>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Filmin türü ve bütçesi yeterli mi,</a:t>
            </a:r>
          </a:p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yoksa asıl belirleyici</a:t>
            </a:r>
          </a:p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kadronun GEÇMİŞİ mi?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029200"/>
            <a:ext cx="4937760" cy="3657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4AF37"/>
                </a:solidFill>
                <a:latin typeface="Calibri"/>
              </a:rPr>
              <a:t>PROJE HİPOTEZİ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8F5EC"/>
                </a:solidFill>
                <a:latin typeface="Calibri"/>
              </a:rPr>
              <a:t>Deneyimli ve geçmişte kaliteli işler</a:t>
            </a:r>
          </a:p>
          <a:p>
            <a:pPr algn="l"/>
            <a:r>
              <a:rPr sz="1100" b="0" i="0">
                <a:solidFill>
                  <a:srgbClr val="F8F5EC"/>
                </a:solidFill>
                <a:latin typeface="Calibri"/>
              </a:rPr>
              <a:t>üretmiş bir kadro, filmin başarısını</a:t>
            </a:r>
          </a:p>
          <a:p>
            <a:pPr algn="l"/>
            <a:r>
              <a:rPr sz="1100" b="0" i="0">
                <a:solidFill>
                  <a:srgbClr val="F8F5EC"/>
                </a:solidFill>
                <a:latin typeface="Calibri"/>
              </a:rPr>
              <a:t>bütçeden ve türden daha güçlü tahmin eder.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28016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280160"/>
            <a:ext cx="109728" cy="15087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5087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0" i="0">
                <a:solidFill>
                  <a:srgbClr val="0F1B3C"/>
                </a:solidFill>
                <a:latin typeface="Calibri"/>
              </a:rP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5087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B3C"/>
                </a:solidFill>
                <a:latin typeface="Calibri"/>
              </a:rPr>
              <a:t>İzleyici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920239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İzlemeye değer mi?</a:t>
            </a:r>
          </a:p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Zaman tasarrufu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97180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971800"/>
            <a:ext cx="109728" cy="15087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2004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0" i="0">
                <a:solidFill>
                  <a:srgbClr val="0F1B3C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2004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B3C"/>
                </a:solidFill>
                <a:latin typeface="Calibri"/>
              </a:rPr>
              <a:t>Yapımcı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361188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Yatırım kararı</a:t>
            </a:r>
          </a:p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Risk değerlendirme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66344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4663440"/>
            <a:ext cx="109728" cy="15087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8920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0" i="0">
                <a:solidFill>
                  <a:srgbClr val="0F1B3C"/>
                </a:solidFill>
                <a:latin typeface="Calibri"/>
              </a:rPr>
              <a:t>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48920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B3C"/>
                </a:solidFill>
                <a:latin typeface="Calibri"/>
              </a:rPr>
              <a:t>Akademik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530352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Özellik mühendisliği</a:t>
            </a:r>
          </a:p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Kültürel ürün + 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TMDB Film Başarı Tahmini  •  Mehmet Emirhan Oğuz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Veri Seti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E8C860"/>
                </a:solidFill>
                <a:latin typeface="Calibri"/>
              </a:rPr>
              <a:t>TMDB API'den canlı çekilmiş güncel veri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274320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2743200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14B8A6"/>
                </a:solidFill>
                <a:latin typeface="Calibri"/>
              </a:rPr>
              <a:t>27.027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Film Kaydı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280160"/>
            <a:ext cx="274320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280160"/>
            <a:ext cx="2743200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5087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D4AF37"/>
                </a:solidFill>
                <a:latin typeface="Calibri"/>
              </a:rPr>
              <a:t>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3317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Özellik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280160"/>
            <a:ext cx="274320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280160"/>
            <a:ext cx="2743200" cy="109728"/>
          </a:xfrm>
          <a:prstGeom prst="rect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087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0F1B3C"/>
                </a:solidFill>
                <a:latin typeface="Calibri"/>
              </a:rPr>
              <a:t>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317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Yıl Aralığı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280160"/>
            <a:ext cx="274320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280160"/>
            <a:ext cx="2743200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5087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14B8A6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3317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Veri Kategorisi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0040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VERİ HATTI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520440"/>
            <a:ext cx="11274552" cy="3657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" y="384048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9319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1605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TMDB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262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E8C860"/>
                </a:solidFill>
                <a:latin typeface="Calibri"/>
              </a:rPr>
              <a:t>Canlı çekim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4160520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88920" y="384048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79" y="39319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41605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Filtre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45262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E8C860"/>
                </a:solidFill>
                <a:latin typeface="Calibri"/>
              </a:rPr>
              <a:t>≥50 oy</a:t>
            </a:r>
          </a:p>
          <a:p>
            <a:pPr algn="ctr"/>
            <a:r>
              <a:rPr sz="1000" b="0" i="0">
                <a:solidFill>
                  <a:srgbClr val="E8C860"/>
                </a:solidFill>
                <a:latin typeface="Calibri"/>
              </a:rPr>
              <a:t>Released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4160520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20640" y="384048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57800" y="39319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1605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Temizlik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45262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E8C860"/>
                </a:solidFill>
                <a:latin typeface="Calibri"/>
              </a:rPr>
              <a:t>Eksik veri</a:t>
            </a:r>
          </a:p>
          <a:p>
            <a:pPr algn="ctr"/>
            <a:r>
              <a:rPr sz="1000" b="0" i="0">
                <a:solidFill>
                  <a:srgbClr val="E8C860"/>
                </a:solidFill>
                <a:latin typeface="Calibri"/>
              </a:rPr>
              <a:t>stratejisi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160520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52359" y="384048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89519" y="39319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59" y="41605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Özellik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59" y="45262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E8C860"/>
                </a:solidFill>
                <a:latin typeface="Calibri"/>
              </a:rPr>
              <a:t>Encoding</a:t>
            </a:r>
          </a:p>
          <a:p>
            <a:pPr algn="ctr"/>
            <a:r>
              <a:rPr sz="1000" b="0" i="0">
                <a:solidFill>
                  <a:srgbClr val="E8C860"/>
                </a:solidFill>
                <a:latin typeface="Calibri"/>
              </a:rPr>
              <a:t>Mühendislik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64039" y="4160520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84080" y="384048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21240" y="39319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0" y="41605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Final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45262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E8C860"/>
                </a:solidFill>
                <a:latin typeface="Calibri"/>
              </a:rPr>
              <a:t>27.027 film</a:t>
            </a:r>
          </a:p>
          <a:p>
            <a:pPr algn="ctr"/>
            <a:r>
              <a:rPr sz="1000" b="0" i="0">
                <a:solidFill>
                  <a:srgbClr val="E8C860"/>
                </a:solidFill>
                <a:latin typeface="Calibri"/>
              </a:rPr>
              <a:t>hazır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48640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EKSİK VERİ STRATEJİSİ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806440"/>
            <a:ext cx="11274552" cy="3657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989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Bütçe / Hasılat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263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4B8A6"/>
                </a:solidFill>
                <a:latin typeface="Calibri"/>
              </a:rPr>
              <a:t>→ 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83280" y="5989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Süre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83280" y="6263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4B8A6"/>
                </a:solidFill>
                <a:latin typeface="Calibri"/>
              </a:rPr>
              <a:t>→ Medyan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5989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Kadro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6263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4B8A6"/>
                </a:solidFill>
                <a:latin typeface="Calibri"/>
              </a:rPr>
              <a:t>→ Unknown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35440" y="5989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Başlık / Tarih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35440" y="6263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4B8A6"/>
                </a:solidFill>
                <a:latin typeface="Calibri"/>
              </a:rPr>
              <a:t>→ Silindi (~480)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TMDB Film Başarı Tahmini  •  Mehmet Emirhan Oğuz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Özellik Mühendisliği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E8C860"/>
                </a:solidFill>
                <a:latin typeface="Calibri"/>
              </a:rPr>
              <a:t>Projenin özgün katkısı — 4 yeni özellik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365760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09728" cy="5029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TEMEL ÖZELLİKLER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Standart Yaklaşım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331720"/>
            <a:ext cx="137160" cy="13716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2402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Film süresi (runtime)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834640"/>
            <a:ext cx="137160" cy="13716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7432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Bütçe + Hasılat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337560"/>
            <a:ext cx="137160" cy="13716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2461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Popülarite skoru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840480"/>
            <a:ext cx="137160" cy="13716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7490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Yayın yılı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343400"/>
            <a:ext cx="137160" cy="13716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2519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Dil — LabelEncoder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846320"/>
            <a:ext cx="137160" cy="13716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7548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Tür — 19 sütun one-hot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864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Bu özellikler tek başına</a:t>
            </a:r>
          </a:p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yetersiz kalır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1280160"/>
            <a:ext cx="7434072" cy="5029200"/>
          </a:xfrm>
          <a:prstGeom prst="roundRect">
            <a:avLst>
              <a:gd name="adj" fmla="val 8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13258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D4AF37"/>
                </a:solidFill>
                <a:latin typeface="Calibri"/>
              </a:rPr>
              <a:t>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1417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ÖZGÜN KATKI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16916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Kadro Geçmiş Skorları (4 yeni özellik)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2286000"/>
            <a:ext cx="3337560" cy="1554480"/>
          </a:xfrm>
          <a:prstGeom prst="roundRect">
            <a:avLst>
              <a:gd name="adj" fmla="val 8000"/>
            </a:avLst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60" y="245059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4AF37"/>
                </a:solidFill>
                <a:latin typeface="Calibri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24231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  <a:latin typeface="Consolas"/>
              </a:rPr>
              <a:t>director_avg_rating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297180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8F5EC"/>
                </a:solidFill>
                <a:latin typeface="Calibri"/>
              </a:rPr>
              <a:t>Yönetmenin geçmiş</a:t>
            </a:r>
          </a:p>
          <a:p>
            <a:pPr algn="l"/>
            <a:r>
              <a:rPr sz="1100" b="0" i="0">
                <a:solidFill>
                  <a:srgbClr val="F8F5EC"/>
                </a:solidFill>
                <a:latin typeface="Calibri"/>
              </a:rPr>
              <a:t>filmlerinin ortalama</a:t>
            </a:r>
          </a:p>
          <a:p>
            <a:pPr algn="l"/>
            <a:r>
              <a:rPr sz="1100" b="0" i="0">
                <a:solidFill>
                  <a:srgbClr val="F8F5EC"/>
                </a:solidFill>
                <a:latin typeface="Calibri"/>
              </a:rPr>
              <a:t>TMDB puanı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2286000"/>
            <a:ext cx="3337560" cy="1554480"/>
          </a:xfrm>
          <a:prstGeom prst="roundRect">
            <a:avLst>
              <a:gd name="adj" fmla="val 8000"/>
            </a:avLst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245059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4AF37"/>
                </a:solidFill>
                <a:latin typeface="Calibri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24231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  <a:latin typeface="Consolas"/>
              </a:rPr>
              <a:t>director_experience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97180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8F5EC"/>
                </a:solidFill>
                <a:latin typeface="Calibri"/>
              </a:rPr>
              <a:t>Yönetmenin toplam</a:t>
            </a:r>
          </a:p>
          <a:p>
            <a:pPr algn="l"/>
            <a:r>
              <a:rPr sz="1100" b="0" i="0">
                <a:solidFill>
                  <a:srgbClr val="F8F5EC"/>
                </a:solidFill>
                <a:latin typeface="Calibri"/>
              </a:rPr>
              <a:t>film sayısı</a:t>
            </a:r>
          </a:p>
          <a:p>
            <a:pPr algn="l"/>
            <a:r>
              <a:rPr sz="1100" b="0" i="0">
                <a:solidFill>
                  <a:srgbClr val="F8F5EC"/>
                </a:solidFill>
                <a:latin typeface="Calibri"/>
              </a:rPr>
              <a:t>(deneyim)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26280" y="3977639"/>
            <a:ext cx="3337560" cy="1554480"/>
          </a:xfrm>
          <a:prstGeom prst="roundRect">
            <a:avLst>
              <a:gd name="adj" fmla="val 8000"/>
            </a:avLst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60" y="4142231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4AF37"/>
                </a:solidFill>
                <a:latin typeface="Calibri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0" y="41148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  <a:latin typeface="Consolas"/>
              </a:rPr>
              <a:t>cast_avg_rating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60" y="466344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8F5EC"/>
                </a:solidFill>
                <a:latin typeface="Calibri"/>
              </a:rPr>
              <a:t>İlk 5 oyuncunun</a:t>
            </a:r>
          </a:p>
          <a:p>
            <a:pPr algn="l"/>
            <a:r>
              <a:rPr sz="1100" b="0" i="0">
                <a:solidFill>
                  <a:srgbClr val="F8F5EC"/>
                </a:solidFill>
                <a:latin typeface="Calibri"/>
              </a:rPr>
              <a:t>geçmiş film ortalama</a:t>
            </a:r>
          </a:p>
          <a:p>
            <a:pPr algn="l"/>
            <a:r>
              <a:rPr sz="1100" b="0" i="0">
                <a:solidFill>
                  <a:srgbClr val="F8F5EC"/>
                </a:solidFill>
                <a:latin typeface="Calibri"/>
              </a:rPr>
              <a:t>TMDB puanı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3977639"/>
            <a:ext cx="3337560" cy="1554480"/>
          </a:xfrm>
          <a:prstGeom prst="roundRect">
            <a:avLst>
              <a:gd name="adj" fmla="val 8000"/>
            </a:avLst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4142231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4AF37"/>
                </a:solidFill>
                <a:latin typeface="Calibri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60" y="41148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  <a:latin typeface="Consolas"/>
              </a:rPr>
              <a:t>cast_experience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66344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8F5EC"/>
                </a:solidFill>
                <a:latin typeface="Calibri"/>
              </a:rPr>
              <a:t>İlk 5 oyuncunun</a:t>
            </a:r>
          </a:p>
          <a:p>
            <a:pPr algn="l"/>
            <a:r>
              <a:rPr sz="1100" b="0" i="0">
                <a:solidFill>
                  <a:srgbClr val="F8F5EC"/>
                </a:solidFill>
                <a:latin typeface="Calibri"/>
              </a:rPr>
              <a:t>ortalama film</a:t>
            </a:r>
          </a:p>
          <a:p>
            <a:pPr algn="l"/>
            <a:r>
              <a:rPr sz="1100" b="0" i="0">
                <a:solidFill>
                  <a:srgbClr val="F8F5EC"/>
                </a:solidFill>
                <a:latin typeface="Calibri"/>
              </a:rPr>
              <a:t>deneyimi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26280" y="5760720"/>
            <a:ext cx="6995160" cy="4572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63440" y="58064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F1B3C"/>
                </a:solidFill>
                <a:latin typeface="Calibri"/>
              </a:rPr>
              <a:t>⚠ Data Leakage Önlemi: Skorlar SADECE eğitim setinden hesaplandı, test setine uygulandı.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TMDB Film Başarı Tahmini  •  Mehmet Emirhan Oğuz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Model Yolculuğu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E8C860"/>
                </a:solidFill>
                <a:latin typeface="Calibri"/>
              </a:rPr>
              <a:t>Üç deneme — performans evrimi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3657600" cy="5120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5087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B3C"/>
                </a:solidFill>
                <a:latin typeface="Calibri"/>
              </a:rPr>
              <a:t>Üçlü Sınıflandırma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874519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Kötü / Ortalama / İyi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6888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06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Calibri"/>
              </a:rPr>
              <a:t>DOĞRULUK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803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EF4444"/>
                </a:solidFill>
                <a:latin typeface="Calibri"/>
              </a:rPr>
              <a:t>54%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✗ Başarısız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526280"/>
            <a:ext cx="3108960" cy="3657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5.9 vs 6.1 yapay sınır.</a:t>
            </a:r>
          </a:p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Ortalama sınıf baskın.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1280160"/>
            <a:ext cx="3657600" cy="5120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36007" y="1463040"/>
            <a:ext cx="640080" cy="64008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7" y="15544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3248" y="15087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B3C"/>
                </a:solidFill>
                <a:latin typeface="Calibri"/>
              </a:rPr>
              <a:t>İkili Keskin Sınır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3248" y="1874519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Random Forest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36007" y="246888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2606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Calibri"/>
              </a:rPr>
              <a:t>DOĞRULUK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28803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D4AF37"/>
                </a:solidFill>
                <a:latin typeface="Calibri"/>
              </a:rPr>
              <a:t>81%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7" y="40233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D4AF37"/>
                </a:solidFill>
                <a:latin typeface="Calibri"/>
              </a:rPr>
              <a:t>↑ İyileşme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36007" y="4526280"/>
            <a:ext cx="3108960" cy="3657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6007" y="466344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Ortalama bant kaldırıldı.</a:t>
            </a:r>
          </a:p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Net kötü vs iyi ayrımı.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66175" y="1280160"/>
            <a:ext cx="3657600" cy="5120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40496" y="14630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0496" y="15544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7736" y="15087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B3C"/>
                </a:solidFill>
                <a:latin typeface="Calibri"/>
              </a:rPr>
              <a:t>HistGradient Boosting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17736" y="1874519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Tuning + 5-fold CV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40496" y="246888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0496" y="2606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Calibri"/>
              </a:rPr>
              <a:t>DOĞRULUK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0496" y="28803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10B981"/>
                </a:solidFill>
                <a:latin typeface="Calibri"/>
              </a:rPr>
              <a:t>83.3%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0496" y="40233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✓ Final Model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40496" y="4526280"/>
            <a:ext cx="3108960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0496" y="466344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max_depth=4, lr=0.1</a:t>
            </a:r>
          </a:p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30 kombinasyon test.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29260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D4AF37"/>
                </a:solidFill>
                <a:latin typeface="Calibri"/>
              </a:rPr>
              <a:t>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19288" y="29260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D4AF37"/>
                </a:solidFill>
                <a:latin typeface="Calibri"/>
              </a:rPr>
              <a:t>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TMDB Film Başarı Tahmini  •  Mehmet Emirhan Oğuz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Sonuçlar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E8C860"/>
                </a:solidFill>
                <a:latin typeface="Calibri"/>
              </a:rPr>
              <a:t>Test seti — HistGradientBoostingClassifier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PERFORMANS METRİKLERİ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0" cy="3657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1371600" cy="457200"/>
          </a:xfrm>
          <a:prstGeom prst="rect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Sınıf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1691640"/>
            <a:ext cx="1371600" cy="457200"/>
          </a:xfrm>
          <a:prstGeom prst="rect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691640"/>
            <a:ext cx="1371600" cy="457200"/>
          </a:xfrm>
          <a:prstGeom prst="rect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691640"/>
            <a:ext cx="1371600" cy="457200"/>
          </a:xfrm>
          <a:prstGeom prst="rect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4884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40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F1B3C"/>
                </a:solidFill>
                <a:latin typeface="Calibri"/>
              </a:rPr>
              <a:t>Kötü film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214884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2240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Calibri"/>
              </a:rPr>
              <a:t>0.86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14884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2240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Calibri"/>
              </a:rPr>
              <a:t>0.88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214884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2240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Calibri"/>
              </a:rPr>
              <a:t>0.87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06040"/>
            <a:ext cx="137160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697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F1B3C"/>
                </a:solidFill>
                <a:latin typeface="Calibri"/>
              </a:rPr>
              <a:t>İyi film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2606040"/>
            <a:ext cx="137160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0" y="2697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Calibri"/>
              </a:rPr>
              <a:t>0.79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2606040"/>
            <a:ext cx="137160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0" y="2697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Calibri"/>
              </a:rPr>
              <a:t>0.75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2606040"/>
            <a:ext cx="137160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2697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Calibri"/>
              </a:rPr>
              <a:t>0.77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200400"/>
            <a:ext cx="5486400" cy="1280160"/>
          </a:xfrm>
          <a:prstGeom prst="roundRect">
            <a:avLst>
              <a:gd name="adj" fmla="val 8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337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Calibri"/>
              </a:rPr>
              <a:t>GENEL DOĞRULUK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611880"/>
            <a:ext cx="5486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83.3%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617720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617720"/>
            <a:ext cx="109728" cy="15544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800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B3C"/>
                </a:solidFill>
                <a:latin typeface="Calibri"/>
              </a:rPr>
              <a:t>5-Katlı Çapraz Doğrulama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16636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Sonuçlar tutarlı — model ezberleme yapmıyor,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farklı veri bölünmelerinde de genelliyor.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2901 test örneği üzerinde değerlendirildi.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TÜRE GÖRE DOĞRULUK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1554480"/>
            <a:ext cx="5486400" cy="3657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6217920" y="169164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3" name="Rectangle 42"/>
          <p:cNvSpPr/>
          <p:nvPr/>
        </p:nvSpPr>
        <p:spPr>
          <a:xfrm>
            <a:off x="6217920" y="5943600"/>
            <a:ext cx="5486400" cy="3657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59893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F1B3C"/>
                </a:solidFill>
                <a:latin typeface="Calibri"/>
              </a:rPr>
              <a:t>Horror %97 (kolay) → Tarih/Savaş ~%55 (zor — dengeli sınıf)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TMDB Film Başarı Tahmini  •  Mehmet Emirhan Oğuz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Özellik Önem Analizi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E8C860"/>
                </a:solidFill>
                <a:latin typeface="Calibri"/>
              </a:rPr>
              <a:t>Asıl bulgu: tür değil, kadro belirler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MODELİN KARAR AĞIRLIKLARI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6858000" cy="3657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280160"/>
            <a:ext cx="4142232" cy="5029200"/>
          </a:xfrm>
          <a:prstGeom prst="roundRect">
            <a:avLst>
              <a:gd name="adj" fmla="val 8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463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Calibri"/>
              </a:rPr>
              <a:t>⚡ ANA BULGU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8288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İlk iki özellik</a:t>
            </a:r>
          </a:p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modelin %56'sı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3017520"/>
            <a:ext cx="3657600" cy="3657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2004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20040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C860"/>
                </a:solidFill>
                <a:latin typeface="Calibri"/>
              </a:rPr>
              <a:t>Kadro geçmiş skoru 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5204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8F5EC"/>
                </a:solidFill>
                <a:latin typeface="Calibri"/>
              </a:rPr>
              <a:t>modelin tek en güçlü sinyali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4114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11480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C860"/>
                </a:solidFill>
                <a:latin typeface="Calibri"/>
              </a:rPr>
              <a:t>Tür çok zayıf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4348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8F5EC"/>
                </a:solidFill>
                <a:latin typeface="Calibri"/>
              </a:rPr>
              <a:t>19 türün toplamı sadece %8.3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50292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502920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C860"/>
                </a:solidFill>
                <a:latin typeface="Calibri"/>
              </a:rPr>
              <a:t>Hipotez doğrulandı 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53492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8F5EC"/>
                </a:solidFill>
                <a:latin typeface="Calibri"/>
              </a:rPr>
              <a:t>kadro &gt; tür + bütçe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TMDB Film Başarı Tahmini  •  Mehmet Emirhan Oğuz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Benzer Çalışmalarla Karşılaştırma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E8C860"/>
                </a:solidFill>
                <a:latin typeface="Calibri"/>
              </a:rPr>
              <a:t>Bu proje literatürde nereye konumlanıyor?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017520" cy="502920"/>
          </a:xfrm>
          <a:prstGeom prst="rect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99031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Calibri"/>
              </a:rPr>
              <a:t>Yaklaşım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280160"/>
            <a:ext cx="2011680" cy="502920"/>
          </a:xfrm>
          <a:prstGeom prst="rect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399031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Calibri"/>
              </a:rPr>
              <a:t>Veri Seti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280160"/>
            <a:ext cx="2286000" cy="502920"/>
          </a:xfrm>
          <a:prstGeom prst="rect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1399031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Calibri"/>
              </a:rPr>
              <a:t>Özellik Odağı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280160"/>
            <a:ext cx="2286000" cy="502920"/>
          </a:xfrm>
          <a:prstGeom prst="rect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399031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Calibri"/>
              </a:rPr>
              <a:t>Yöntem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0" y="1280160"/>
            <a:ext cx="1645920" cy="502920"/>
          </a:xfrm>
          <a:prstGeom prst="rect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1399031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Calibri"/>
              </a:rPr>
              <a:t>Doğruluk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783080"/>
            <a:ext cx="30175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783080"/>
            <a:ext cx="73152" cy="86868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1874519"/>
            <a:ext cx="283463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Klasik Regresyon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(IMDb 5000 — Kaggle)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1783080"/>
            <a:ext cx="201168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1874519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~5.000 film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1783080"/>
            <a:ext cx="22860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0" y="1874519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Bütçe, tür, IMDB votes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1783080"/>
            <a:ext cx="22860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1874519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Linear / RF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0" y="1783080"/>
            <a:ext cx="16459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1874519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F1B3C"/>
                </a:solidFill>
                <a:latin typeface="Calibri"/>
              </a:rPr>
              <a:t>~70-75%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651760"/>
            <a:ext cx="3017520" cy="868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2651760"/>
            <a:ext cx="73152" cy="86868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743200"/>
            <a:ext cx="283463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ANN Tabanlı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(Sharda &amp; Delen, vb.)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2651760"/>
            <a:ext cx="2011680" cy="868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74320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Box-office filmleri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2651760"/>
            <a:ext cx="2286000" cy="868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0" y="274320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Reklam, sezon, tür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0" y="2651760"/>
            <a:ext cx="2286000" cy="868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274320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Yapay sinir ağı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0" y="2651760"/>
            <a:ext cx="1645920" cy="868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0" y="274320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F1B3C"/>
                </a:solidFill>
                <a:latin typeface="Calibri"/>
              </a:rPr>
              <a:t>~75-80%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520439"/>
            <a:ext cx="30175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3520439"/>
            <a:ext cx="73152" cy="86868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3611879"/>
            <a:ext cx="283463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Karar Ağacı + Boosting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(Generic ML)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3520439"/>
            <a:ext cx="201168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66160" y="3611879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IMDb, Rotten Tomatoes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0" y="3520439"/>
            <a:ext cx="22860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77840" y="3611879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Eleştirmen + popülerlik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0" y="3520439"/>
            <a:ext cx="22860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0" y="3611879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GBT / XGBoost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58400" y="3520439"/>
            <a:ext cx="16459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58400" y="3611879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F1B3C"/>
                </a:solidFill>
                <a:latin typeface="Calibri"/>
              </a:rPr>
              <a:t>~78-82%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389120"/>
            <a:ext cx="3017520" cy="86868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4389120"/>
            <a:ext cx="73152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4480559"/>
            <a:ext cx="283463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BU PROJE</a:t>
            </a:r>
          </a:p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Kadro Geçmişi + HistGB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74720" y="4389120"/>
            <a:ext cx="2011680" cy="86868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66160" y="4480559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27.027 film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(TMDB API)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0" y="4389120"/>
            <a:ext cx="2286000" cy="86868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77840" y="4480559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Cast/Director geçmiş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ortalama puanı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0" y="4389120"/>
            <a:ext cx="2286000" cy="86868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63840" y="4480559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HistGradientBoosting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 tuning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058400" y="4389120"/>
            <a:ext cx="1645920" cy="86868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0" y="4480559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D4AF37"/>
                </a:solidFill>
                <a:latin typeface="Calibri"/>
              </a:rPr>
              <a:t>83.3%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5532120"/>
            <a:ext cx="11274552" cy="5029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5650992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F1B3C"/>
                </a:solidFill>
                <a:latin typeface="Calibri"/>
              </a:rPr>
              <a:t>★ Farkımız:  Daha geniş ve güncel veri (27K)  +  kadronun GEÇMİŞ KALİTESİNİ ölçen 4 yeni özellik  +  veri sızıntısı önlemi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TMDB Film Başarı Tahmini  •  Mehmet Emirhan Oğuz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Sonuç &amp; Tartışma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E8C860"/>
                </a:solidFill>
                <a:latin typeface="Calibri"/>
              </a:rPr>
              <a:t>Özellik mühendisliğinin gücü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ÇALIŞMANIN ÇIKTILARI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760720" cy="3657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783080"/>
            <a:ext cx="57607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109728" cy="12801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F1B3C"/>
                </a:solidFill>
                <a:latin typeface="Calibri"/>
              </a:rPr>
              <a:t>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96596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F1B3C"/>
                </a:solidFill>
                <a:latin typeface="Calibri"/>
              </a:rPr>
              <a:t>%83.3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603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Test doğruluğu — sadece nesnel veriyle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57607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109728" cy="12801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F1B3C"/>
                </a:solidFill>
                <a:latin typeface="Calibri"/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832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F1B3C"/>
                </a:solidFill>
                <a:latin typeface="Calibri"/>
              </a:rPr>
              <a:t>+4 yeni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977639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Özgün özellik mühendisliği katkısı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617720"/>
            <a:ext cx="57607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617720"/>
            <a:ext cx="109728" cy="12801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920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F1B3C"/>
                </a:solidFill>
                <a:latin typeface="Calibri"/>
              </a:rPr>
              <a:t>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8006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F1B3C"/>
                </a:solidFill>
                <a:latin typeface="Calibri"/>
              </a:rPr>
              <a:t>%56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394959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İlk iki özelliğin toplam karar ağırlığı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28016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KISITLAR &amp; GELECEK İŞLER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554480"/>
            <a:ext cx="5330952" cy="3657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0" y="1783080"/>
            <a:ext cx="5330952" cy="2194560"/>
          </a:xfrm>
          <a:prstGeom prst="roundRect">
            <a:avLst>
              <a:gd name="adj" fmla="val 8000"/>
            </a:avLst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9202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⚠ KISIT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240280"/>
            <a:ext cx="5029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Kadro geçmiş skorları yalnızca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4.803 filmlik bir alt kümeden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türetildi. 27.027 filmin bir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kısmında bu özellikler eksik.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114800"/>
            <a:ext cx="5330952" cy="2194560"/>
          </a:xfrm>
          <a:prstGeom prst="roundRect">
            <a:avLst>
              <a:gd name="adj" fmla="val 8000"/>
            </a:avLst>
          </a:prstGeom>
          <a:solidFill>
            <a:srgbClr val="0F1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2519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alibri"/>
              </a:rPr>
              <a:t>→ GELECEK İŞ</a:t>
            </a:r>
          </a:p>
        </p:txBody>
      </p:sp>
      <p:sp>
        <p:nvSpPr>
          <p:cNvPr id="31" name="Oval 30"/>
          <p:cNvSpPr/>
          <p:nvPr/>
        </p:nvSpPr>
        <p:spPr>
          <a:xfrm>
            <a:off x="6675120" y="4617720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3720" y="4526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8F5EC"/>
                </a:solidFill>
                <a:latin typeface="Calibri"/>
              </a:rPr>
              <a:t>Daha geniş kadro veritabanı</a:t>
            </a:r>
          </a:p>
        </p:txBody>
      </p:sp>
      <p:sp>
        <p:nvSpPr>
          <p:cNvPr id="33" name="Oval 32"/>
          <p:cNvSpPr/>
          <p:nvPr/>
        </p:nvSpPr>
        <p:spPr>
          <a:xfrm>
            <a:off x="6675120" y="5001768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4910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8F5EC"/>
                </a:solidFill>
                <a:latin typeface="Calibri"/>
              </a:rPr>
              <a:t>Eleştirmen + sosyal medya entegrasyonu</a:t>
            </a:r>
          </a:p>
        </p:txBody>
      </p:sp>
      <p:sp>
        <p:nvSpPr>
          <p:cNvPr id="35" name="Oval 34"/>
          <p:cNvSpPr/>
          <p:nvPr/>
        </p:nvSpPr>
        <p:spPr>
          <a:xfrm>
            <a:off x="6675120" y="5385816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03720" y="529437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8F5EC"/>
                </a:solidFill>
                <a:latin typeface="Calibri"/>
              </a:rPr>
              <a:t>Regresyon (puan tahmini) versiyonu</a:t>
            </a:r>
          </a:p>
        </p:txBody>
      </p:sp>
      <p:sp>
        <p:nvSpPr>
          <p:cNvPr id="37" name="Oval 36"/>
          <p:cNvSpPr/>
          <p:nvPr/>
        </p:nvSpPr>
        <p:spPr>
          <a:xfrm>
            <a:off x="6675120" y="5769864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03720" y="567842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8F5EC"/>
                </a:solidFill>
                <a:latin typeface="Calibri"/>
              </a:rPr>
              <a:t>Türkçe / yerel film veri seti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TMDB Film Başarı Tahmini  •  Mehmet Emirhan Oğuz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457200"/>
            <a:ext cx="420624" cy="3200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420624" cy="320040"/>
          </a:xfrm>
          <a:prstGeom prst="rect">
            <a:avLst/>
          </a:prstGeom>
          <a:solidFill>
            <a:srgbClr val="F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2011680"/>
            <a:ext cx="420624" cy="3200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697479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2788920"/>
            <a:ext cx="420624" cy="320040"/>
          </a:xfrm>
          <a:prstGeom prst="rect">
            <a:avLst/>
          </a:prstGeom>
          <a:solidFill>
            <a:srgbClr val="F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474720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3566160"/>
            <a:ext cx="420624" cy="3200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4251960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4343400"/>
            <a:ext cx="420624" cy="320040"/>
          </a:xfrm>
          <a:prstGeom prst="rect">
            <a:avLst/>
          </a:prstGeom>
          <a:solidFill>
            <a:srgbClr val="F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5029200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5120640"/>
            <a:ext cx="420624" cy="3200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5806440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5897880"/>
            <a:ext cx="420624" cy="320040"/>
          </a:xfrm>
          <a:prstGeom prst="rect">
            <a:avLst/>
          </a:prstGeom>
          <a:solidFill>
            <a:srgbClr val="F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365992" y="365760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384280" y="457200"/>
            <a:ext cx="420624" cy="3200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365992" y="1143000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384280" y="1234440"/>
            <a:ext cx="420624" cy="320040"/>
          </a:xfrm>
          <a:prstGeom prst="rect">
            <a:avLst/>
          </a:prstGeom>
          <a:solidFill>
            <a:srgbClr val="F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365992" y="1920240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384280" y="2011680"/>
            <a:ext cx="420624" cy="3200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365992" y="2697479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384280" y="2788920"/>
            <a:ext cx="420624" cy="320040"/>
          </a:xfrm>
          <a:prstGeom prst="rect">
            <a:avLst/>
          </a:prstGeom>
          <a:solidFill>
            <a:srgbClr val="F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365992" y="3474720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384280" y="3566160"/>
            <a:ext cx="420624" cy="3200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365992" y="4251960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384280" y="4343400"/>
            <a:ext cx="420624" cy="320040"/>
          </a:xfrm>
          <a:prstGeom prst="rect">
            <a:avLst/>
          </a:prstGeom>
          <a:solidFill>
            <a:srgbClr val="F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365992" y="5029200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384280" y="5120640"/>
            <a:ext cx="420624" cy="3200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65992" y="5806440"/>
            <a:ext cx="457200" cy="502920"/>
          </a:xfrm>
          <a:prstGeom prst="rect">
            <a:avLst/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384280" y="5897880"/>
            <a:ext cx="420624" cy="320040"/>
          </a:xfrm>
          <a:prstGeom prst="rect">
            <a:avLst/>
          </a:prstGeom>
          <a:solidFill>
            <a:srgbClr val="F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32704" y="146304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 i="0">
                <a:solidFill>
                  <a:srgbClr val="D4AF37"/>
                </a:solidFill>
                <a:latin typeface="Calibri"/>
              </a:rPr>
              <a:t>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TEŞEKKÜRLER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0" y="3383280"/>
            <a:ext cx="2103120" cy="3657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36118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1">
                <a:solidFill>
                  <a:srgbClr val="E8C860"/>
                </a:solidFill>
                <a:latin typeface="Calibri"/>
              </a:rPr>
              <a:t>Sorularınız için hazırım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0" y="4754880"/>
            <a:ext cx="4873752" cy="1371600"/>
          </a:xfrm>
          <a:prstGeom prst="roundRect">
            <a:avLst>
              <a:gd name="adj" fmla="val 8000"/>
            </a:avLst>
          </a:prstGeom>
          <a:solidFill>
            <a:srgbClr val="1E2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0" y="4937760"/>
            <a:ext cx="4873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Mehmet Emirhan Oğuz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49240"/>
            <a:ext cx="4873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E8C860"/>
                </a:solidFill>
                <a:latin typeface="Calibri"/>
              </a:rPr>
              <a:t>230601048  •  emirhan10157@gmail.com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5715000"/>
            <a:ext cx="4873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F8F5EC"/>
                </a:solidFill>
                <a:latin typeface="Calibri"/>
              </a:rPr>
              <a:t>BIL4036 — İzmir Bakırçay Üniversitesi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